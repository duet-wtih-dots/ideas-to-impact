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llm_slide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llm_slide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llm_slide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1E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48640" y="155448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5C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45C3E"/>
                </a:solidFill>
                <a:latin typeface="Calibri"/>
                <a:ea typeface="Calibri"/>
                <a:cs typeface="Calibri"/>
                <a:sym typeface="Calibri"/>
              </a:rPr>
              <a:t>AGENT ENGINEERING SERIES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1965960"/>
            <a:ext cx="8046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2C2A26"/>
                </a:solidFill>
                <a:latin typeface="Georgia"/>
                <a:ea typeface="Georgia"/>
                <a:cs typeface="Georgia"/>
                <a:sym typeface="Georgia"/>
              </a:rPr>
              <a:t>The Evolution of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2C2A26"/>
                </a:solidFill>
                <a:latin typeface="Georgia"/>
                <a:ea typeface="Georgia"/>
                <a:cs typeface="Georgia"/>
                <a:sym typeface="Georgia"/>
              </a:rPr>
              <a:t>Agent Engineering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7A6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C7A6B"/>
                </a:solidFill>
                <a:latin typeface="Calibri"/>
                <a:ea typeface="Calibri"/>
                <a:cs typeface="Calibri"/>
                <a:sym typeface="Calibri"/>
              </a:rPr>
              <a:t>Prompt  →  Context  →  Harness  →  Loop  →  Graph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097280" y="3840480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Understanding the five layers that shape modern Agentic AI systems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1E8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411480" y="201168"/>
            <a:ext cx="640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4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948C"/>
                </a:solidFill>
                <a:latin typeface="Calibri"/>
                <a:ea typeface="Calibri"/>
                <a:cs typeface="Calibri"/>
                <a:sym typeface="Calibri"/>
              </a:rPr>
              <a:t>The Evolution of Agent Engineering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7589520" y="201168"/>
            <a:ext cx="1188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48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A948C"/>
                </a:solidFill>
                <a:latin typeface="Calibri"/>
                <a:ea typeface="Calibri"/>
                <a:cs typeface="Calibri"/>
                <a:sym typeface="Calibri"/>
              </a:rPr>
              <a:t>2  /  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11480" y="502920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2C2A26"/>
                </a:solidFill>
                <a:latin typeface="Georgia"/>
                <a:ea typeface="Georgia"/>
                <a:cs typeface="Georgia"/>
                <a:sym typeface="Georgia"/>
              </a:rPr>
              <a:t>LLM Basics: How a Language Model Works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11480" y="1143000"/>
            <a:ext cx="8321100" cy="1051500"/>
          </a:xfrm>
          <a:prstGeom prst="roundRect">
            <a:avLst>
              <a:gd fmla="val 6957" name="adj"/>
            </a:avLst>
          </a:prstGeom>
          <a:solidFill>
            <a:srgbClr val="FFFBF5"/>
          </a:solidFill>
          <a:ln>
            <a:noFill/>
          </a:ln>
          <a:effectLst>
            <a:outerShdw blurRad="635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411480" y="1143000"/>
            <a:ext cx="91500" cy="1051500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685800" y="1261872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5C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45C3E"/>
                </a:solidFill>
                <a:latin typeface="Calibri"/>
                <a:ea typeface="Calibri"/>
                <a:cs typeface="Calibri"/>
                <a:sym typeface="Calibri"/>
              </a:rPr>
              <a:t>What it 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85800" y="1554480"/>
            <a:ext cx="7772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A large language model (LLM) is a program trained on huge amounts of text to predict the next token. It writes an answer by repeating that prediction, one token at a time.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11480" y="2423160"/>
            <a:ext cx="4069200" cy="960000"/>
          </a:xfrm>
          <a:prstGeom prst="roundRect">
            <a:avLst>
              <a:gd fmla="val 7619" name="adj"/>
            </a:avLst>
          </a:prstGeom>
          <a:solidFill>
            <a:srgbClr val="FFFBF5"/>
          </a:solidFill>
          <a:ln>
            <a:noFill/>
          </a:ln>
          <a:effectLst>
            <a:outerShdw blurRad="50800" rotWithShape="0" algn="bl" dir="8100000" dist="12700">
              <a:srgbClr val="000000">
                <a:alpha val="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640080" y="256032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6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5C7A6B"/>
                </a:solidFill>
                <a:latin typeface="Calibri"/>
                <a:ea typeface="Calibri"/>
                <a:cs typeface="Calibri"/>
                <a:sym typeface="Calibri"/>
              </a:rPr>
              <a:t>Tokens &amp; context window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40080" y="2880360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Text becomes tokens (word pieces). The context window caps how much it can see at once.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663440" y="2423160"/>
            <a:ext cx="4069200" cy="960000"/>
          </a:xfrm>
          <a:prstGeom prst="roundRect">
            <a:avLst>
              <a:gd fmla="val 7619" name="adj"/>
            </a:avLst>
          </a:prstGeom>
          <a:solidFill>
            <a:srgbClr val="FFFBF5"/>
          </a:solidFill>
          <a:ln>
            <a:noFill/>
          </a:ln>
          <a:effectLst>
            <a:outerShdw blurRad="50800" rotWithShape="0" algn="bl" dir="8100000" dist="12700">
              <a:srgbClr val="000000">
                <a:alpha val="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892040" y="256032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6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5C7A6B"/>
                </a:solidFill>
                <a:latin typeface="Calibri"/>
                <a:ea typeface="Calibri"/>
                <a:cs typeface="Calibri"/>
                <a:sym typeface="Calibri"/>
              </a:rPr>
              <a:t>Training vs. inference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892040" y="2880360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Training learns patterns from vast text, once. Inference uses them to answer you.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11480" y="3520440"/>
            <a:ext cx="4069200" cy="960000"/>
          </a:xfrm>
          <a:prstGeom prst="roundRect">
            <a:avLst>
              <a:gd fmla="val 7619" name="adj"/>
            </a:avLst>
          </a:prstGeom>
          <a:solidFill>
            <a:srgbClr val="FFFBF5"/>
          </a:solidFill>
          <a:ln>
            <a:noFill/>
          </a:ln>
          <a:effectLst>
            <a:outerShdw blurRad="50800" rotWithShape="0" algn="bl" dir="8100000" dist="12700">
              <a:srgbClr val="000000">
                <a:alpha val="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40080" y="365760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6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5C7A6B"/>
                </a:solidFill>
                <a:latin typeface="Calibri"/>
                <a:ea typeface="Calibri"/>
                <a:cs typeface="Calibri"/>
                <a:sym typeface="Calibri"/>
              </a:rPr>
              <a:t>Why it can be wrong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40080" y="3977640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It picks what sounds likely, not what is true, so it can invent facts (hallucination).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663440" y="3520440"/>
            <a:ext cx="4069200" cy="960000"/>
          </a:xfrm>
          <a:prstGeom prst="roundRect">
            <a:avLst>
              <a:gd fmla="val 7619" name="adj"/>
            </a:avLst>
          </a:prstGeom>
          <a:solidFill>
            <a:srgbClr val="FFFBF5"/>
          </a:solidFill>
          <a:ln>
            <a:noFill/>
          </a:ln>
          <a:effectLst>
            <a:outerShdw blurRad="50800" rotWithShape="0" algn="bl" dir="8100000" dist="12700">
              <a:srgbClr val="000000">
                <a:alpha val="51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892040" y="365760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6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5C7A6B"/>
                </a:solidFill>
                <a:latin typeface="Calibri"/>
                <a:ea typeface="Calibri"/>
                <a:cs typeface="Calibri"/>
                <a:sym typeface="Calibri"/>
              </a:rPr>
              <a:t>Why prompts matter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892040" y="3977640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Its answer depends on what you give it. Shaping that input is Prompt Engineering.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1E8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411480" y="201168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4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948C"/>
                </a:solidFill>
                <a:latin typeface="Calibri"/>
                <a:ea typeface="Calibri"/>
                <a:cs typeface="Calibri"/>
                <a:sym typeface="Calibri"/>
              </a:rPr>
              <a:t>The Evolution of Agent Engineering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7589520" y="20116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48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A948C"/>
                </a:solidFill>
                <a:latin typeface="Calibri"/>
                <a:ea typeface="Calibri"/>
                <a:cs typeface="Calibri"/>
                <a:sym typeface="Calibri"/>
              </a:rPr>
              <a:t>3  /  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2C2A26"/>
                </a:solidFill>
                <a:latin typeface="Georgia"/>
                <a:ea typeface="Georgia"/>
                <a:cs typeface="Georgia"/>
                <a:sym typeface="Georgia"/>
              </a:rPr>
              <a:t>The Five Layers at a Glance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411480" y="1143000"/>
            <a:ext cx="8321040" cy="594360"/>
          </a:xfrm>
          <a:prstGeom prst="roundRect">
            <a:avLst>
              <a:gd fmla="val 12308" name="adj"/>
            </a:avLst>
          </a:prstGeom>
          <a:solidFill>
            <a:srgbClr val="FFFBF5"/>
          </a:solidFill>
          <a:ln>
            <a:noFill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594360" y="12801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5C3E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C45C3E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1371600" y="12344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Prompt Engineering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120640" y="128016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Craft the instruction given to the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11480" y="1828800"/>
            <a:ext cx="8321040" cy="594360"/>
          </a:xfrm>
          <a:prstGeom prst="roundRect">
            <a:avLst>
              <a:gd fmla="val 12308" name="adj"/>
            </a:avLst>
          </a:prstGeom>
          <a:solidFill>
            <a:srgbClr val="FFFBF5"/>
          </a:solidFill>
          <a:ln>
            <a:noFill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594360" y="19659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5C3E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C45C3E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371600" y="19202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Context Engineering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120640" y="196596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Control what information the model can see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11480" y="2514600"/>
            <a:ext cx="8321040" cy="594360"/>
          </a:xfrm>
          <a:prstGeom prst="roundRect">
            <a:avLst>
              <a:gd fmla="val 12308" name="adj"/>
            </a:avLst>
          </a:prstGeom>
          <a:solidFill>
            <a:srgbClr val="FFFBF5"/>
          </a:solidFill>
          <a:ln>
            <a:noFill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594360" y="26517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5C3E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C45C3E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371600" y="26060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Harness Engineering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120640" y="265176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Constrain tools, state, and verification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11480" y="3200400"/>
            <a:ext cx="8321040" cy="594360"/>
          </a:xfrm>
          <a:prstGeom prst="roundRect">
            <a:avLst>
              <a:gd fmla="val 12308" name="adj"/>
            </a:avLst>
          </a:prstGeom>
          <a:solidFill>
            <a:srgbClr val="FFFBF5"/>
          </a:solidFill>
          <a:ln>
            <a:noFill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594360" y="33375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5C3E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C45C3E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1371600" y="32918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Loop Engineering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120640" y="333756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Design the single-agent think-act cycle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11480" y="3886200"/>
            <a:ext cx="8321040" cy="594360"/>
          </a:xfrm>
          <a:prstGeom prst="roundRect">
            <a:avLst>
              <a:gd fmla="val 12308" name="adj"/>
            </a:avLst>
          </a:prstGeom>
          <a:solidFill>
            <a:srgbClr val="FFFBF5"/>
          </a:solidFill>
          <a:ln>
            <a:noFill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594360" y="402336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5C3E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C45C3E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1371600" y="39776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Graph Engineering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120640" y="402336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Wire multiple specialized agents into a topology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1E8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411480" y="201168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4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948C"/>
                </a:solidFill>
                <a:latin typeface="Calibri"/>
                <a:ea typeface="Calibri"/>
                <a:cs typeface="Calibri"/>
                <a:sym typeface="Calibri"/>
              </a:rPr>
              <a:t>The Evolution of Agent Engineering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7589520" y="20116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48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A948C"/>
                </a:solidFill>
                <a:latin typeface="Calibri"/>
                <a:ea typeface="Calibri"/>
                <a:cs typeface="Calibri"/>
                <a:sym typeface="Calibri"/>
              </a:rPr>
              <a:t>4  /  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2C2A26"/>
                </a:solidFill>
                <a:latin typeface="Georgia"/>
                <a:ea typeface="Georgia"/>
                <a:cs typeface="Georgia"/>
                <a:sym typeface="Georgia"/>
              </a:rPr>
              <a:t>01  —  Prompt Engineering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411480" y="1143000"/>
            <a:ext cx="8321040" cy="1051560"/>
          </a:xfrm>
          <a:prstGeom prst="roundRect">
            <a:avLst>
              <a:gd fmla="val 6957" name="adj"/>
            </a:avLst>
          </a:prstGeom>
          <a:solidFill>
            <a:srgbClr val="FFFBF5"/>
          </a:solidFill>
          <a:ln>
            <a:noFill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411480" y="1143000"/>
            <a:ext cx="91440" cy="1051560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685800" y="126187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5C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45C3E"/>
                </a:solidFill>
                <a:latin typeface="Calibri"/>
                <a:ea typeface="Calibri"/>
                <a:cs typeface="Calibri"/>
                <a:sym typeface="Calibri"/>
              </a:rPr>
              <a:t>What it 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685800" y="155448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The practice of carefully designing the text instructions (and examples) given to a language model so it produces the desired behavior on a single turn.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11480" y="2423160"/>
            <a:ext cx="4069080" cy="960120"/>
          </a:xfrm>
          <a:prstGeom prst="roundRect">
            <a:avLst>
              <a:gd fmla="val 7619" name="adj"/>
            </a:avLst>
          </a:prstGeom>
          <a:solidFill>
            <a:srgbClr val="FFFBF5"/>
          </a:solidFill>
          <a:ln>
            <a:noFill/>
          </a:ln>
          <a:effectLst>
            <a:outerShdw blurRad="50800" rotWithShape="0" algn="bl" dir="81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640080" y="2560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6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C7A6B"/>
                </a:solidFill>
                <a:latin typeface="Calibri"/>
                <a:ea typeface="Calibri"/>
                <a:cs typeface="Calibri"/>
                <a:sym typeface="Calibri"/>
              </a:rPr>
              <a:t>Focus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640080" y="28803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Wording, structure, few-shot examples, system prompts, output format constraints.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663440" y="2423160"/>
            <a:ext cx="4069080" cy="960120"/>
          </a:xfrm>
          <a:prstGeom prst="roundRect">
            <a:avLst>
              <a:gd fmla="val 7619" name="adj"/>
            </a:avLst>
          </a:prstGeom>
          <a:solidFill>
            <a:srgbClr val="FFFBF5"/>
          </a:solidFill>
          <a:ln>
            <a:noFill/>
          </a:ln>
          <a:effectLst>
            <a:outerShdw blurRad="50800" rotWithShape="0" algn="bl" dir="81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4892040" y="2560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6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C7A6B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892040" y="28803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Make one model call reliable and predictable for a defined task.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11480" y="3520440"/>
            <a:ext cx="4069080" cy="960120"/>
          </a:xfrm>
          <a:prstGeom prst="roundRect">
            <a:avLst>
              <a:gd fmla="val 7619" name="adj"/>
            </a:avLst>
          </a:prstGeom>
          <a:solidFill>
            <a:srgbClr val="FFFBF5"/>
          </a:solidFill>
          <a:ln>
            <a:noFill/>
          </a:ln>
          <a:effectLst>
            <a:outerShdw blurRad="50800" rotWithShape="0" algn="bl" dir="81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640080" y="3657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6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C7A6B"/>
                </a:solidFill>
                <a:latin typeface="Calibri"/>
                <a:ea typeface="Calibri"/>
                <a:cs typeface="Calibri"/>
                <a:sym typeface="Calibri"/>
              </a:rPr>
              <a:t>Limits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640080" y="39776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Cannot fix missing knowledge, tool access, multi-step reasoning, or coordination.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663440" y="3520440"/>
            <a:ext cx="4069080" cy="960120"/>
          </a:xfrm>
          <a:prstGeom prst="roundRect">
            <a:avLst>
              <a:gd fmla="val 7619" name="adj"/>
            </a:avLst>
          </a:prstGeom>
          <a:solidFill>
            <a:srgbClr val="FFFBF5"/>
          </a:solidFill>
          <a:ln>
            <a:noFill/>
          </a:ln>
          <a:effectLst>
            <a:outerShdw blurRad="50800" rotWithShape="0" algn="bl" dir="81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4892040" y="3657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6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C7A6B"/>
                </a:solidFill>
                <a:latin typeface="Calibri"/>
                <a:ea typeface="Calibri"/>
                <a:cs typeface="Calibri"/>
                <a:sym typeface="Calibri"/>
              </a:rPr>
              <a:t>Still essential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892040" y="39776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Every later layer still depends on good prompts inside each node or agent.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1E8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/>
          <p:nvPr/>
        </p:nvSpPr>
        <p:spPr>
          <a:xfrm>
            <a:off x="411480" y="201168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4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948C"/>
                </a:solidFill>
                <a:latin typeface="Calibri"/>
                <a:ea typeface="Calibri"/>
                <a:cs typeface="Calibri"/>
                <a:sym typeface="Calibri"/>
              </a:rPr>
              <a:t>The Evolution of Agent Engineering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7589520" y="20116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48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A948C"/>
                </a:solidFill>
                <a:latin typeface="Calibri"/>
                <a:ea typeface="Calibri"/>
                <a:cs typeface="Calibri"/>
                <a:sym typeface="Calibri"/>
              </a:rPr>
              <a:t>5  /  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2C2A26"/>
                </a:solidFill>
                <a:latin typeface="Georgia"/>
                <a:ea typeface="Georgia"/>
                <a:cs typeface="Georgia"/>
                <a:sym typeface="Georgia"/>
              </a:rPr>
              <a:t>02  —  Context Engineering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11480" y="1143000"/>
            <a:ext cx="8321040" cy="1051560"/>
          </a:xfrm>
          <a:prstGeom prst="roundRect">
            <a:avLst>
              <a:gd fmla="val 6957" name="adj"/>
            </a:avLst>
          </a:prstGeom>
          <a:solidFill>
            <a:srgbClr val="FFFBF5"/>
          </a:solidFill>
          <a:ln>
            <a:noFill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411480" y="1143000"/>
            <a:ext cx="91440" cy="1051560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685800" y="126187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5C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45C3E"/>
                </a:solidFill>
                <a:latin typeface="Calibri"/>
                <a:ea typeface="Calibri"/>
                <a:cs typeface="Calibri"/>
                <a:sym typeface="Calibri"/>
              </a:rPr>
              <a:t>What it 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685800" y="155448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The practice of selecting, structuring, and injecting the right information into the model’s context window so it has the knowledge needed to answer correctly.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02920" y="2468880"/>
            <a:ext cx="256032" cy="256032"/>
          </a:xfrm>
          <a:prstGeom prst="ellipse">
            <a:avLst/>
          </a:prstGeom>
          <a:solidFill>
            <a:srgbClr val="5C7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960120" y="23774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RAG &amp; Retrieval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3566160" y="23774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Pull relevant documents or chunks based on the query instead of stuffing everything.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502920" y="3063240"/>
            <a:ext cx="256032" cy="256032"/>
          </a:xfrm>
          <a:prstGeom prst="ellipse">
            <a:avLst/>
          </a:prstGeom>
          <a:solidFill>
            <a:srgbClr val="5C7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960120" y="297180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Memory Systems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3566160" y="29718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Short-term conversation history and long-term user or domain memory.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02920" y="3657600"/>
            <a:ext cx="256032" cy="256032"/>
          </a:xfrm>
          <a:prstGeom prst="ellipse">
            <a:avLst/>
          </a:prstGeom>
          <a:solidFill>
            <a:srgbClr val="5C7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960120" y="35661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Summarization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3566160" y="35661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Compress long histories or documents so they fit within token limits.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02920" y="4251960"/>
            <a:ext cx="256032" cy="256032"/>
          </a:xfrm>
          <a:prstGeom prst="ellipse">
            <a:avLst/>
          </a:prstGeom>
          <a:solidFill>
            <a:srgbClr val="5C7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960120" y="41605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Structured Context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3566160" y="41605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Tables, schemas, tool descriptions, and examples placed deliberately in the prompt.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1E8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411480" y="201168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4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948C"/>
                </a:solidFill>
                <a:latin typeface="Calibri"/>
                <a:ea typeface="Calibri"/>
                <a:cs typeface="Calibri"/>
                <a:sym typeface="Calibri"/>
              </a:rPr>
              <a:t>The Evolution of Agent Engineering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7589520" y="20116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48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A948C"/>
                </a:solidFill>
                <a:latin typeface="Calibri"/>
                <a:ea typeface="Calibri"/>
                <a:cs typeface="Calibri"/>
                <a:sym typeface="Calibri"/>
              </a:rPr>
              <a:t>6  /  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2C2A26"/>
                </a:solidFill>
                <a:latin typeface="Georgia"/>
                <a:ea typeface="Georgia"/>
                <a:cs typeface="Georgia"/>
                <a:sym typeface="Georgia"/>
              </a:rPr>
              <a:t>03  —  Harness Engineering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411480" y="1143000"/>
            <a:ext cx="8321040" cy="1051560"/>
          </a:xfrm>
          <a:prstGeom prst="roundRect">
            <a:avLst>
              <a:gd fmla="val 6957" name="adj"/>
            </a:avLst>
          </a:prstGeom>
          <a:solidFill>
            <a:srgbClr val="FFFBF5"/>
          </a:solidFill>
          <a:ln>
            <a:noFill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411480" y="1143000"/>
            <a:ext cx="91440" cy="1051560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685800" y="126187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5C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45C3E"/>
                </a:solidFill>
                <a:latin typeface="Calibri"/>
                <a:ea typeface="Calibri"/>
                <a:cs typeface="Calibri"/>
                <a:sym typeface="Calibri"/>
              </a:rPr>
              <a:t>What it 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685800" y="155448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The practice of building the surrounding infrastructure that constrains, verifies, and supports the model — tools, schemas, guardrails, and state management.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411480" y="2423160"/>
            <a:ext cx="4069080" cy="960120"/>
          </a:xfrm>
          <a:prstGeom prst="roundRect">
            <a:avLst>
              <a:gd fmla="val 7619" name="adj"/>
            </a:avLst>
          </a:prstGeom>
          <a:solidFill>
            <a:srgbClr val="FFFBF5"/>
          </a:solidFill>
          <a:ln>
            <a:noFill/>
          </a:ln>
          <a:effectLst>
            <a:outerShdw blurRad="50800" rotWithShape="0" algn="bl" dir="81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640080" y="2560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6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C7A6B"/>
                </a:solidFill>
                <a:latin typeface="Calibri"/>
                <a:ea typeface="Calibri"/>
                <a:cs typeface="Calibri"/>
                <a:sym typeface="Calibri"/>
              </a:rPr>
              <a:t>Tools &amp; APIs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640080" y="28803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Give the model the ability to act on the world through well-defined functions.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4663440" y="2423160"/>
            <a:ext cx="4069080" cy="960120"/>
          </a:xfrm>
          <a:prstGeom prst="roundRect">
            <a:avLst>
              <a:gd fmla="val 7619" name="adj"/>
            </a:avLst>
          </a:prstGeom>
          <a:solidFill>
            <a:srgbClr val="FFFBF5"/>
          </a:solidFill>
          <a:ln>
            <a:noFill/>
          </a:ln>
          <a:effectLst>
            <a:outerShdw blurRad="50800" rotWithShape="0" algn="bl" dir="81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4892040" y="2560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6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C7A6B"/>
                </a:solidFill>
                <a:latin typeface="Calibri"/>
                <a:ea typeface="Calibri"/>
                <a:cs typeface="Calibri"/>
                <a:sym typeface="Calibri"/>
              </a:rPr>
              <a:t>Schemas &amp; Validation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892040" y="28803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Force structured outputs and reject invalid responses before they propagate.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411480" y="3520440"/>
            <a:ext cx="4069080" cy="960120"/>
          </a:xfrm>
          <a:prstGeom prst="roundRect">
            <a:avLst>
              <a:gd fmla="val 7619" name="adj"/>
            </a:avLst>
          </a:prstGeom>
          <a:solidFill>
            <a:srgbClr val="FFFBF5"/>
          </a:solidFill>
          <a:ln>
            <a:noFill/>
          </a:ln>
          <a:effectLst>
            <a:outerShdw blurRad="50800" rotWithShape="0" algn="bl" dir="81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640080" y="3657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6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C7A6B"/>
                </a:solidFill>
                <a:latin typeface="Calibri"/>
                <a:ea typeface="Calibri"/>
                <a:cs typeface="Calibri"/>
                <a:sym typeface="Calibri"/>
              </a:rPr>
              <a:t>Guardrails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640080" y="39776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Safety filters, policy checks, and rate limits that sit outside the model.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663440" y="3520440"/>
            <a:ext cx="4069080" cy="960120"/>
          </a:xfrm>
          <a:prstGeom prst="roundRect">
            <a:avLst>
              <a:gd fmla="val 7619" name="adj"/>
            </a:avLst>
          </a:prstGeom>
          <a:solidFill>
            <a:srgbClr val="FFFBF5"/>
          </a:solidFill>
          <a:ln>
            <a:noFill/>
          </a:ln>
          <a:effectLst>
            <a:outerShdw blurRad="50800" rotWithShape="0" algn="bl" dir="81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4892040" y="3657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6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C7A6B"/>
                </a:solidFill>
                <a:latin typeface="Calibri"/>
                <a:ea typeface="Calibri"/>
                <a:cs typeface="Calibri"/>
                <a:sym typeface="Calibri"/>
              </a:rPr>
              <a:t>Persistent State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892040" y="39776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External memory, databases, and session stores the agent can read and write.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1E8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411480" y="201168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4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948C"/>
                </a:solidFill>
                <a:latin typeface="Calibri"/>
                <a:ea typeface="Calibri"/>
                <a:cs typeface="Calibri"/>
                <a:sym typeface="Calibri"/>
              </a:rPr>
              <a:t>The Evolution of Agent Engineering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7589520" y="20116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48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A948C"/>
                </a:solidFill>
                <a:latin typeface="Calibri"/>
                <a:ea typeface="Calibri"/>
                <a:cs typeface="Calibri"/>
                <a:sym typeface="Calibri"/>
              </a:rPr>
              <a:t>7  /  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2C2A26"/>
                </a:solidFill>
                <a:latin typeface="Georgia"/>
                <a:ea typeface="Georgia"/>
                <a:cs typeface="Georgia"/>
                <a:sym typeface="Georgia"/>
              </a:rPr>
              <a:t>04  —  Loop Engineering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411480" y="1143000"/>
            <a:ext cx="8321040" cy="1051560"/>
          </a:xfrm>
          <a:prstGeom prst="roundRect">
            <a:avLst>
              <a:gd fmla="val 6957" name="adj"/>
            </a:avLst>
          </a:prstGeom>
          <a:solidFill>
            <a:srgbClr val="FFFBF5"/>
          </a:solidFill>
          <a:ln>
            <a:noFill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411480" y="1143000"/>
            <a:ext cx="91440" cy="1051560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685800" y="126187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5C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45C3E"/>
                </a:solidFill>
                <a:latin typeface="Calibri"/>
                <a:ea typeface="Calibri"/>
                <a:cs typeface="Calibri"/>
                <a:sym typeface="Calibri"/>
              </a:rPr>
              <a:t>What it 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685800" y="155448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The practice of designing the repeated cycle a single agent follows: observe → reason → act → evaluate → repeat until a stopping condition is met.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411480" y="2468880"/>
            <a:ext cx="2011680" cy="1965960"/>
          </a:xfrm>
          <a:prstGeom prst="roundRect">
            <a:avLst>
              <a:gd fmla="val 4651" name="adj"/>
            </a:avLst>
          </a:prstGeom>
          <a:solidFill>
            <a:srgbClr val="FFFBF5"/>
          </a:solidFill>
          <a:ln>
            <a:noFill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1051560" y="2651760"/>
            <a:ext cx="640080" cy="640080"/>
          </a:xfrm>
          <a:prstGeom prst="ellipse">
            <a:avLst/>
          </a:prstGeom>
          <a:solidFill>
            <a:srgbClr val="C4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1051560" y="2761488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502920" y="34290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Observe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48640" y="37947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Read current state and new observations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2560320" y="2468880"/>
            <a:ext cx="2011680" cy="1965960"/>
          </a:xfrm>
          <a:prstGeom prst="roundRect">
            <a:avLst>
              <a:gd fmla="val 4651" name="adj"/>
            </a:avLst>
          </a:prstGeom>
          <a:solidFill>
            <a:srgbClr val="FFFBF5"/>
          </a:solidFill>
          <a:ln>
            <a:noFill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3200400" y="2651760"/>
            <a:ext cx="640080" cy="640080"/>
          </a:xfrm>
          <a:prstGeom prst="ellipse">
            <a:avLst/>
          </a:prstGeom>
          <a:solidFill>
            <a:srgbClr val="C4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3200400" y="2761488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2651760" y="34290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Reason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2697480" y="37947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Decide next action or sub-goal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4709160" y="2468880"/>
            <a:ext cx="2011680" cy="1965960"/>
          </a:xfrm>
          <a:prstGeom prst="roundRect">
            <a:avLst>
              <a:gd fmla="val 4651" name="adj"/>
            </a:avLst>
          </a:prstGeom>
          <a:solidFill>
            <a:srgbClr val="FFFBF5"/>
          </a:solidFill>
          <a:ln>
            <a:noFill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5349240" y="2651760"/>
            <a:ext cx="640080" cy="640080"/>
          </a:xfrm>
          <a:prstGeom prst="ellipse">
            <a:avLst/>
          </a:prstGeom>
          <a:solidFill>
            <a:srgbClr val="C4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5349240" y="2761488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4800600" y="34290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Act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4846320" y="37947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Call tools or produce intermediate output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858000" y="2468880"/>
            <a:ext cx="2011680" cy="1965960"/>
          </a:xfrm>
          <a:prstGeom prst="roundRect">
            <a:avLst>
              <a:gd fmla="val 4651" name="adj"/>
            </a:avLst>
          </a:prstGeom>
          <a:solidFill>
            <a:srgbClr val="FFFBF5"/>
          </a:solidFill>
          <a:ln>
            <a:noFill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7498080" y="2651760"/>
            <a:ext cx="640080" cy="640080"/>
          </a:xfrm>
          <a:prstGeom prst="ellipse">
            <a:avLst/>
          </a:prstGeom>
          <a:solidFill>
            <a:srgbClr val="C4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7498080" y="2761488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6949440" y="34290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Evaluate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995160" y="37947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Check progress and decide whether to stop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1E8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/>
          <p:nvPr/>
        </p:nvSpPr>
        <p:spPr>
          <a:xfrm>
            <a:off x="411480" y="201168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4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948C"/>
                </a:solidFill>
                <a:latin typeface="Calibri"/>
                <a:ea typeface="Calibri"/>
                <a:cs typeface="Calibri"/>
                <a:sym typeface="Calibri"/>
              </a:rPr>
              <a:t>The Evolution of Agent Engineering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7589520" y="20116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48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A948C"/>
                </a:solidFill>
                <a:latin typeface="Calibri"/>
                <a:ea typeface="Calibri"/>
                <a:cs typeface="Calibri"/>
                <a:sym typeface="Calibri"/>
              </a:rPr>
              <a:t>8  /  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2C2A26"/>
                </a:solidFill>
                <a:latin typeface="Georgia"/>
                <a:ea typeface="Georgia"/>
                <a:cs typeface="Georgia"/>
                <a:sym typeface="Georgia"/>
              </a:rPr>
              <a:t>05  —  Graph Engineering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411480" y="1143000"/>
            <a:ext cx="8321040" cy="1051560"/>
          </a:xfrm>
          <a:prstGeom prst="roundRect">
            <a:avLst>
              <a:gd fmla="val 6957" name="adj"/>
            </a:avLst>
          </a:prstGeom>
          <a:solidFill>
            <a:srgbClr val="FFFBF5"/>
          </a:solidFill>
          <a:ln>
            <a:noFill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411480" y="1143000"/>
            <a:ext cx="91440" cy="1051560"/>
          </a:xfrm>
          <a:prstGeom prst="rect">
            <a:avLst/>
          </a:prstGeom>
          <a:solidFill>
            <a:srgbClr val="C4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685800" y="1261872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5C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45C3E"/>
                </a:solidFill>
                <a:latin typeface="Calibri"/>
                <a:ea typeface="Calibri"/>
                <a:cs typeface="Calibri"/>
                <a:sym typeface="Calibri"/>
              </a:rPr>
              <a:t>What it 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685800" y="155448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The practice of designing the topology of a multi-agent system: which specialized nodes exist, how they connect, what state they share, and which transitions are allowed.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411480" y="2468880"/>
            <a:ext cx="2743200" cy="1965960"/>
          </a:xfrm>
          <a:prstGeom prst="roundRect">
            <a:avLst>
              <a:gd fmla="val 4651" name="adj"/>
            </a:avLst>
          </a:prstGeom>
          <a:solidFill>
            <a:srgbClr val="FFFBF5"/>
          </a:solidFill>
          <a:ln>
            <a:noFill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594360" y="26974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5C3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45C3E"/>
                </a:solidFill>
                <a:latin typeface="Calibri"/>
                <a:ea typeface="Calibri"/>
                <a:cs typeface="Calibri"/>
                <a:sym typeface="Calibri"/>
              </a:rPr>
              <a:t>Nodes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594360" y="3200400"/>
            <a:ext cx="23774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Agents, tools, deterministic functions, routers, or human checkpoints — each with a clear mandate.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3291840" y="2468880"/>
            <a:ext cx="2743200" cy="1965960"/>
          </a:xfrm>
          <a:prstGeom prst="roundRect">
            <a:avLst>
              <a:gd fmla="val 4651" name="adj"/>
            </a:avLst>
          </a:prstGeom>
          <a:solidFill>
            <a:srgbClr val="FFFBF5"/>
          </a:solidFill>
          <a:ln>
            <a:noFill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3474720" y="26974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5C3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45C3E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3474720" y="3200400"/>
            <a:ext cx="23774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Explicit transitions (direct, conditional, parallel, cyclic) that control flow and ownership.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6172200" y="2468880"/>
            <a:ext cx="2743200" cy="1965960"/>
          </a:xfrm>
          <a:prstGeom prst="roundRect">
            <a:avLst>
              <a:gd fmla="val 4651" name="adj"/>
            </a:avLst>
          </a:prstGeom>
          <a:solidFill>
            <a:srgbClr val="FFFBF5"/>
          </a:solidFill>
          <a:ln>
            <a:noFill/>
          </a:ln>
          <a:effectLst>
            <a:outerShdw blurRad="635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6355080" y="26974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5C3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45C3E"/>
                </a:solidFill>
                <a:latin typeface="Calibri"/>
                <a:ea typeface="Calibri"/>
                <a:cs typeface="Calibri"/>
                <a:sym typeface="Calibri"/>
              </a:rPr>
              <a:t>Shared State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6355080" y="3200400"/>
            <a:ext cx="23774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A typed memory object that travels through the graph so every node can read and update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1E8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/>
          <p:cNvSpPr/>
          <p:nvPr/>
        </p:nvSpPr>
        <p:spPr>
          <a:xfrm>
            <a:off x="411480" y="201168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4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948C"/>
                </a:solidFill>
                <a:latin typeface="Calibri"/>
                <a:ea typeface="Calibri"/>
                <a:cs typeface="Calibri"/>
                <a:sym typeface="Calibri"/>
              </a:rPr>
              <a:t>The Evolution of Agent Engineering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7589520" y="20116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48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A948C"/>
                </a:solidFill>
                <a:latin typeface="Calibri"/>
                <a:ea typeface="Calibri"/>
                <a:cs typeface="Calibri"/>
                <a:sym typeface="Calibri"/>
              </a:rPr>
              <a:t>9  /  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2C2A26"/>
                </a:solidFill>
                <a:latin typeface="Georgia"/>
                <a:ea typeface="Georgia"/>
                <a:cs typeface="Georgia"/>
                <a:sym typeface="Georgia"/>
              </a:rPr>
              <a:t>How the Layers Stack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411480" y="109728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Each layer builds on the ones below it. Higher layers do not replace lower ones.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411480" y="1554480"/>
            <a:ext cx="8321040" cy="502920"/>
          </a:xfrm>
          <a:prstGeom prst="roundRect">
            <a:avLst>
              <a:gd fmla="val 10909" name="adj"/>
            </a:avLst>
          </a:prstGeom>
          <a:solidFill>
            <a:srgbClr val="C4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640080" y="16002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Engineering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3886200" y="1627632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Coordinates multiple specialized loops into an organization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571500" y="2148840"/>
            <a:ext cx="8001000" cy="502920"/>
          </a:xfrm>
          <a:prstGeom prst="roundRect">
            <a:avLst>
              <a:gd fmla="val 10909" name="adj"/>
            </a:avLst>
          </a:prstGeom>
          <a:solidFill>
            <a:srgbClr val="B85A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800100" y="219456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Loop Engineering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4046220" y="2221992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Makes a single agent iterate reliably until the goal is reached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731520" y="2743200"/>
            <a:ext cx="7680960" cy="502920"/>
          </a:xfrm>
          <a:prstGeom prst="roundRect">
            <a:avLst>
              <a:gd fmla="val 10909" name="adj"/>
            </a:avLst>
          </a:prstGeom>
          <a:solidFill>
            <a:srgbClr val="5C7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960120" y="278892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Harness Engineering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4206240" y="281635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Gives the agent tools, schemas, guardrails, and memory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891540" y="3337560"/>
            <a:ext cx="7360920" cy="502920"/>
          </a:xfrm>
          <a:prstGeom prst="roundRect">
            <a:avLst>
              <a:gd fmla="val 10909" name="adj"/>
            </a:avLst>
          </a:prstGeom>
          <a:solidFill>
            <a:srgbClr val="4A6B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1120140" y="338328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 Engineering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4366260" y="3410712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Supplies the right knowledge at the right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1051560" y="3931920"/>
            <a:ext cx="7040880" cy="502920"/>
          </a:xfrm>
          <a:prstGeom prst="roundRect">
            <a:avLst>
              <a:gd fmla="val 10909" name="adj"/>
            </a:avLst>
          </a:prstGeom>
          <a:solidFill>
            <a:srgbClr val="3A55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1280160" y="397764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Engineering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4526280" y="400507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Shapes the language and intent of every model call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1E8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"/>
          <p:cNvSpPr/>
          <p:nvPr/>
        </p:nvSpPr>
        <p:spPr>
          <a:xfrm>
            <a:off x="411480" y="201168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4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948C"/>
                </a:solidFill>
                <a:latin typeface="Calibri"/>
                <a:ea typeface="Calibri"/>
                <a:cs typeface="Calibri"/>
                <a:sym typeface="Calibri"/>
              </a:rPr>
              <a:t>The Evolution of Agent Engineering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7589520" y="20116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48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A948C"/>
                </a:solidFill>
                <a:latin typeface="Calibri"/>
                <a:ea typeface="Calibri"/>
                <a:cs typeface="Calibri"/>
                <a:sym typeface="Calibri"/>
              </a:rPr>
              <a:t>10  /  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2C2A26"/>
                </a:solidFill>
                <a:latin typeface="Georgia"/>
                <a:ea typeface="Georgia"/>
                <a:cs typeface="Georgia"/>
                <a:sym typeface="Georgia"/>
              </a:rPr>
              <a:t>When to Reach for Each Layer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411480" y="1188720"/>
            <a:ext cx="8321040" cy="457200"/>
          </a:xfrm>
          <a:prstGeom prst="rect">
            <a:avLst/>
          </a:prstGeom>
          <a:solidFill>
            <a:srgbClr val="2C2A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594360" y="12801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2651760" y="1280160"/>
            <a:ext cx="5760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used when…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411480" y="1645920"/>
            <a:ext cx="8321040" cy="54864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594360" y="175564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5C3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45C3E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2651760" y="1755648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Single-turn tasks, classification, extraction, simple generation.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411480" y="2194560"/>
            <a:ext cx="8321040" cy="548640"/>
          </a:xfrm>
          <a:prstGeom prst="rect">
            <a:avLst/>
          </a:prstGeom>
          <a:solidFill>
            <a:srgbClr val="F0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594360" y="230428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5C3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45C3E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2651760" y="2304288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The model needs external knowledge it was not trained 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411480" y="2743200"/>
            <a:ext cx="8321040" cy="54864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594360" y="285292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5C3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45C3E"/>
                </a:solidFill>
                <a:latin typeface="Calibri"/>
                <a:ea typeface="Calibri"/>
                <a:cs typeface="Calibri"/>
                <a:sym typeface="Calibri"/>
              </a:rPr>
              <a:t>Harness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2651760" y="2852928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The model must use tools, produce structured data, or stay within policy.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411480" y="3291840"/>
            <a:ext cx="8321040" cy="548640"/>
          </a:xfrm>
          <a:prstGeom prst="rect">
            <a:avLst/>
          </a:prstGeom>
          <a:solidFill>
            <a:srgbClr val="F0E9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594360" y="340156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5C3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45C3E"/>
                </a:solidFill>
                <a:latin typeface="Calibri"/>
                <a:ea typeface="Calibri"/>
                <a:cs typeface="Calibri"/>
                <a:sym typeface="Calibri"/>
              </a:rPr>
              <a:t>Loop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2651760" y="3401568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The task requires multiple reasoning or action steps by one agent.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411480" y="3840480"/>
            <a:ext cx="8321040" cy="548640"/>
          </a:xfrm>
          <a:prstGeom prst="rect">
            <a:avLst/>
          </a:prstGeom>
          <a:solidFill>
            <a:srgbClr val="FFFB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594360" y="395020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5C3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45C3E"/>
                </a:solidFill>
                <a:latin typeface="Calibri"/>
                <a:ea typeface="Calibri"/>
                <a:cs typeface="Calibri"/>
                <a:sym typeface="Calibri"/>
              </a:rPr>
              <a:t>Graph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2651760" y="3950208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You need specialization, parallelism, human gates, or multi-agent coordination.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1E8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"/>
          <p:cNvSpPr/>
          <p:nvPr/>
        </p:nvSpPr>
        <p:spPr>
          <a:xfrm>
            <a:off x="411480" y="201168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4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948C"/>
                </a:solidFill>
                <a:latin typeface="Calibri"/>
                <a:ea typeface="Calibri"/>
                <a:cs typeface="Calibri"/>
                <a:sym typeface="Calibri"/>
              </a:rPr>
              <a:t>The Evolution of Agent Engineering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7589520" y="20116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948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A948C"/>
                </a:solidFill>
                <a:latin typeface="Calibri"/>
                <a:ea typeface="Calibri"/>
                <a:cs typeface="Calibri"/>
                <a:sym typeface="Calibri"/>
              </a:rPr>
              <a:t>11  /  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2C2A26"/>
                </a:solidFill>
                <a:latin typeface="Georgia"/>
                <a:ea typeface="Georgia"/>
                <a:cs typeface="Georgia"/>
                <a:sym typeface="Georgia"/>
              </a:rPr>
              <a:t>Key Takeaways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411480" y="1143000"/>
            <a:ext cx="8321040" cy="566928"/>
          </a:xfrm>
          <a:prstGeom prst="roundRect">
            <a:avLst>
              <a:gd fmla="val 12903" name="adj"/>
            </a:avLst>
          </a:prstGeom>
          <a:solidFill>
            <a:srgbClr val="FFFBF5"/>
          </a:solidFill>
          <a:ln>
            <a:noFill/>
          </a:ln>
          <a:effectLst>
            <a:outerShdw blurRad="50800" rotWithShape="0" algn="bl" dir="81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"/>
          <p:cNvSpPr/>
          <p:nvPr/>
        </p:nvSpPr>
        <p:spPr>
          <a:xfrm>
            <a:off x="594360" y="1252728"/>
            <a:ext cx="365760" cy="365760"/>
          </a:xfrm>
          <a:prstGeom prst="ellipse">
            <a:avLst/>
          </a:prstGeom>
          <a:solidFill>
            <a:srgbClr val="C4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"/>
          <p:cNvSpPr/>
          <p:nvPr/>
        </p:nvSpPr>
        <p:spPr>
          <a:xfrm>
            <a:off x="594360" y="129844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1188720" y="1252728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Agent engineering is layered. Each new practice sits on top of the previous ones rather than replacing them.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411480" y="1801368"/>
            <a:ext cx="8321040" cy="566928"/>
          </a:xfrm>
          <a:prstGeom prst="roundRect">
            <a:avLst>
              <a:gd fmla="val 12903" name="adj"/>
            </a:avLst>
          </a:prstGeom>
          <a:solidFill>
            <a:srgbClr val="FFFBF5"/>
          </a:solidFill>
          <a:ln>
            <a:noFill/>
          </a:ln>
          <a:effectLst>
            <a:outerShdw blurRad="50800" rotWithShape="0" algn="bl" dir="81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594360" y="1911096"/>
            <a:ext cx="365760" cy="365760"/>
          </a:xfrm>
          <a:prstGeom prst="ellipse">
            <a:avLst/>
          </a:prstGeom>
          <a:solidFill>
            <a:srgbClr val="C4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594360" y="1956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1188720" y="1911096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Prompt and Context remain foundational — every node in a graph still needs good instructions and relevant knowledge.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411480" y="2459736"/>
            <a:ext cx="8321040" cy="566928"/>
          </a:xfrm>
          <a:prstGeom prst="roundRect">
            <a:avLst>
              <a:gd fmla="val 12903" name="adj"/>
            </a:avLst>
          </a:prstGeom>
          <a:solidFill>
            <a:srgbClr val="FFFBF5"/>
          </a:solidFill>
          <a:ln>
            <a:noFill/>
          </a:ln>
          <a:effectLst>
            <a:outerShdw blurRad="50800" rotWithShape="0" algn="bl" dir="81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594360" y="2569464"/>
            <a:ext cx="365760" cy="365760"/>
          </a:xfrm>
          <a:prstGeom prst="ellipse">
            <a:avLst/>
          </a:prstGeom>
          <a:solidFill>
            <a:srgbClr val="C4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594360" y="261518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1188720" y="2569464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Harness and Loop turn a model into a reliable single agent that can use tools and iterate.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411480" y="3118104"/>
            <a:ext cx="8321040" cy="566928"/>
          </a:xfrm>
          <a:prstGeom prst="roundRect">
            <a:avLst>
              <a:gd fmla="val 12903" name="adj"/>
            </a:avLst>
          </a:prstGeom>
          <a:solidFill>
            <a:srgbClr val="FFFBF5"/>
          </a:solidFill>
          <a:ln>
            <a:noFill/>
          </a:ln>
          <a:effectLst>
            <a:outerShdw blurRad="50800" rotWithShape="0" algn="bl" dir="81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594360" y="3227832"/>
            <a:ext cx="365760" cy="365760"/>
          </a:xfrm>
          <a:prstGeom prst="ellipse">
            <a:avLst/>
          </a:prstGeom>
          <a:solidFill>
            <a:srgbClr val="C4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594360" y="32735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1188720" y="3227832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Graph Engineering becomes necessary only when one agent is no longer enough — specialization, parallelism, and coordination.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411480" y="3776472"/>
            <a:ext cx="8321040" cy="566928"/>
          </a:xfrm>
          <a:prstGeom prst="roundRect">
            <a:avLst>
              <a:gd fmla="val 12903" name="adj"/>
            </a:avLst>
          </a:prstGeom>
          <a:solidFill>
            <a:srgbClr val="FFFBF5"/>
          </a:solidFill>
          <a:ln>
            <a:noFill/>
          </a:ln>
          <a:effectLst>
            <a:outerShdw blurRad="50800" rotWithShape="0" algn="bl" dir="81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594360" y="3886200"/>
            <a:ext cx="365760" cy="365760"/>
          </a:xfrm>
          <a:prstGeom prst="ellipse">
            <a:avLst/>
          </a:prstGeom>
          <a:solidFill>
            <a:srgbClr val="C45C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594360" y="39319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1188720" y="3886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A2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A26"/>
                </a:solidFill>
                <a:latin typeface="Calibri"/>
                <a:ea typeface="Calibri"/>
                <a:cs typeface="Calibri"/>
                <a:sym typeface="Calibri"/>
              </a:rPr>
              <a:t>Start simple. Move up the stack only when the current layer’s limitations become the bottleneck.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