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Arimo"/>
      <p:regular r:id="rId12"/>
      <p:bold r:id="rId13"/>
      <p:italic r:id="rId14"/>
      <p:boldItalic r:id="rId15"/>
    </p:embeddedFont>
    <p:embeddedFont>
      <p:font typeface="Azeret Mono"/>
      <p:regular r:id="rId16"/>
      <p:bold r:id="rId17"/>
      <p:italic r:id="rId18"/>
      <p:boldItalic r:id="rId19"/>
    </p:embeddedFont>
    <p:embeddedFont>
      <p:font typeface="Arimo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Medium-regular.fntdata"/><Relationship Id="rId11" Type="http://schemas.openxmlformats.org/officeDocument/2006/relationships/slide" Target="slides/slide6.xml"/><Relationship Id="rId22" Type="http://schemas.openxmlformats.org/officeDocument/2006/relationships/font" Target="fonts/ArimoMedium-italic.fntdata"/><Relationship Id="rId10" Type="http://schemas.openxmlformats.org/officeDocument/2006/relationships/slide" Target="slides/slide5.xml"/><Relationship Id="rId21" Type="http://schemas.openxmlformats.org/officeDocument/2006/relationships/font" Target="fonts/ArimoMedium-bold.fntdata"/><Relationship Id="rId13" Type="http://schemas.openxmlformats.org/officeDocument/2006/relationships/font" Target="fonts/Arimo-bold.fntdata"/><Relationship Id="rId12" Type="http://schemas.openxmlformats.org/officeDocument/2006/relationships/font" Target="fonts/Arimo-regular.fntdata"/><Relationship Id="rId23" Type="http://schemas.openxmlformats.org/officeDocument/2006/relationships/font" Target="fonts/Arim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boldItalic.fntdata"/><Relationship Id="rId14" Type="http://schemas.openxmlformats.org/officeDocument/2006/relationships/font" Target="fonts/Arimo-italic.fntdata"/><Relationship Id="rId17" Type="http://schemas.openxmlformats.org/officeDocument/2006/relationships/font" Target="fonts/AzeretMono-bold.fntdata"/><Relationship Id="rId16" Type="http://schemas.openxmlformats.org/officeDocument/2006/relationships/font" Target="fonts/Azeret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zeretMono-boldItalic.fntdata"/><Relationship Id="rId6" Type="http://schemas.openxmlformats.org/officeDocument/2006/relationships/slide" Target="slides/slide1.xml"/><Relationship Id="rId18" Type="http://schemas.openxmlformats.org/officeDocument/2006/relationships/font" Target="fonts/Azeret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962025" y="3424237"/>
            <a:ext cx="10267950" cy="9525"/>
          </a:xfrm>
          <a:prstGeom prst="rect">
            <a:avLst/>
          </a:prstGeom>
          <a:solidFill>
            <a:srgbClr val="A8A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62025" y="3424237"/>
            <a:ext cx="10267950" cy="9525"/>
          </a:xfrm>
          <a:prstGeom prst="rect">
            <a:avLst/>
          </a:prstGeom>
          <a:solidFill>
            <a:srgbClr val="A8A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3446264"/>
            <a:ext cx="102423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A Foundational Look at the Top Five Productivity Agents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62025" y="5086350"/>
            <a:ext cx="102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851" y="2148185"/>
            <a:ext cx="4286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66750" y="571500"/>
            <a:ext cx="176522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1. Coze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6750" y="1190625"/>
            <a:ext cx="41605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A655C"/>
                </a:solidFill>
                <a:latin typeface="Azeret Mono"/>
                <a:ea typeface="Azeret Mono"/>
                <a:cs typeface="Azeret Mono"/>
                <a:sym typeface="Azeret Mono"/>
              </a:rPr>
              <a:t>The Accessible Entry Point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1838325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Overview: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Zero-code platform enabling users to quickly build intelligent AI agents without programming; a visual gateway for multi-plugin agents.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2878187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Strengths: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Visual drag-and-drop workflow builder, built-in prompt engineering, Skills Marketplace, and "Agent Plan" for executing complex, long-term goals.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918049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Weaknesses: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High abstraction offers less fine-grained control for highly complex, code-heavy architecture compared to developer-first platforms.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957911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Ease of Implementation: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Very High. Utilizes an intuitive no-code/low-code interface.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708302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Companies Adopted: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Built by ByteDance. Adopted across diverse sectors for tasks ranging from legal research to video content creation.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376" y="3483768"/>
            <a:ext cx="3505200" cy="13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66750" y="185737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" y="28972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" y="3937099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" y="4976961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" y="572735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851" y="2062162"/>
            <a:ext cx="4286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66750" y="571500"/>
            <a:ext cx="233529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2. Lindy.ai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6750" y="1190625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A655C"/>
                </a:solidFill>
                <a:latin typeface="Azeret Mono"/>
                <a:ea typeface="Azeret Mono"/>
                <a:cs typeface="Azeret Mono"/>
                <a:sym typeface="Azeret Mono"/>
              </a:rPr>
              <a:t>The Conversational AI Employee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1896963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Overview: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The benchmark for a "magic box" executive assistant that abstracts complexity away to effortlessly manage calendars, emails, and to-dos.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2936825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Strengths: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Offers a highly conversational setup acting as a proactive personal AI assistant for immediate inbox and meeting management.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3687216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Weaknesses: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Operates entirely as a "black box" that hides underlying architecture (like RAG databases), making it harder to visually demonstrate core orchestration.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4727078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Ease of Implementation: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Extremely High. Consumer-friendly conversational setup requiring zero architectural planning.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5477470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Companies Adopted: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Heavily utilized by solopreneurs, founders, and agile sales teams seeking instant personal productivity automation.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151" y="3976687"/>
            <a:ext cx="10096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66750" y="1916013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" y="295587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" y="3706266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6750" y="4746128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6750" y="549652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851" y="2148185"/>
            <a:ext cx="4286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66750" y="571500"/>
            <a:ext cx="146518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3. Dify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6750" y="1190625"/>
            <a:ext cx="46405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A655C"/>
                </a:solidFill>
                <a:latin typeface="Azeret Mono"/>
                <a:ea typeface="Azeret Mono"/>
                <a:cs typeface="Azeret Mono"/>
                <a:sym typeface="Azeret Mono"/>
              </a:rPr>
              <a:t>The Infrastructure Visualizer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1838325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Overview: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Open-source application platform acting as a visual IDE for building AI apps, explicitly showing how the underlying agent architecture is built.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2878187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Strengths: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Node-based "Dify Workflow", robust RAG engine accessing proprietary data, and support for running custom Python/JS within nodes.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3918049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Weaknesses: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Steeper learning curve than conversational tools; requires foundational understanding of prompt templates, context management, and conditional logic.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4957911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Ease of Implementation: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Medium. Requires architectural understanding but is visually guided via a drag-and-drop canvas.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5708302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Companies Adopted: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Backed by an open-source community with 90K+ GitHub stars; used globally to build scalable LLM applications.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9376" y="3228379"/>
            <a:ext cx="3505200" cy="184011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66750" y="185737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6750" y="28972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" y="3937099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6750" y="4976961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" y="572735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851" y="2437655"/>
            <a:ext cx="4286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66750" y="571500"/>
            <a:ext cx="143017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4. n8n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" y="1190625"/>
            <a:ext cx="43205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A655C"/>
                </a:solidFill>
                <a:latin typeface="Azeret Mono"/>
                <a:ea typeface="Azeret Mono"/>
                <a:cs typeface="Azeret Mono"/>
                <a:sym typeface="Azeret Mono"/>
              </a:rPr>
              <a:t>The Autonomous Orchestrator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1838325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Overview: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An AI-native workflow automation platform that seamlessly blends the speed of no-code with the flexibility of full-code orchestration.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2878187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Strengths: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Extreme flexibility allowing native JS, self-hosting for strict data privacy (HIPAA, GDPR), and native LLM connectors for end-to-end pipelines.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3918049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Weaknesses: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Can be technically daunting for non-technical professionals; caters heavily to hybrid teams comfortable with custom code and APIs.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4957911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Ease of Implementation: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Low to Medium. Requires logical workflow mapping, custom scripting, and a firm grasp of API operations.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5997773"/>
            <a:ext cx="5810101" cy="860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Companies Adopted: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Highly adopted by tech-forward startups, enterprise IT professionals, and hybrid teams blending dev and ops skillsets.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251" y="2828180"/>
            <a:ext cx="32194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666750" y="185737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6750" y="28972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6750" y="3937099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6750" y="4976961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6016823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851" y="2292994"/>
            <a:ext cx="4286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66750" y="571500"/>
            <a:ext cx="4400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C2C2C"/>
                </a:solidFill>
                <a:latin typeface="Arimo Medium"/>
                <a:ea typeface="Arimo Medium"/>
                <a:cs typeface="Arimo Medium"/>
                <a:sym typeface="Arimo Medium"/>
              </a:rPr>
              <a:t>5. Zapier AI &amp; MCP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" y="1190625"/>
            <a:ext cx="27203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A655C"/>
                </a:solidFill>
                <a:latin typeface="Azeret Mono"/>
                <a:ea typeface="Azeret Mono"/>
                <a:cs typeface="Azeret Mono"/>
                <a:sym typeface="Azeret Mono"/>
              </a:rPr>
              <a:t>The Legacy Bridge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57250" y="1838325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Overview: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Utilizes Model Context Protocol (MCP) as a secure gateway to Zapier's extensive library, letting AI act on your behalf directly from chat.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57250" y="2878187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Strengths: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Unparalleled market penetration (9,000+ app connections), SOC 2 compliance, and fine-grained action controls for strict administration.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57250" y="3918049"/>
            <a:ext cx="5810101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Weaknesses: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Costs two Zapier tasks per tool call executed, which can drain quotas quickly if used for autonomous background operations.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57250" y="4668440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Ease of Implementation: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High. Integrates directly with tools like Claude and ChatGPT, requiring no technical skills to set up the connection.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57250" y="5708302"/>
            <a:ext cx="5810101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A1A1A"/>
                </a:solidFill>
                <a:latin typeface="Arimo"/>
                <a:ea typeface="Arimo"/>
                <a:cs typeface="Arimo"/>
                <a:sym typeface="Arimo"/>
              </a:rPr>
              <a:t>Companies Adopted:</a:t>
            </a:r>
            <a:r>
              <a:rPr b="0" i="0" lang="en-US" sz="1425" u="none" cap="none" strike="noStrike">
                <a:solidFill>
                  <a:srgbClr val="2C2C2C"/>
                </a:solidFill>
                <a:latin typeface="Arimo"/>
                <a:ea typeface="Arimo"/>
                <a:cs typeface="Arimo"/>
                <a:sym typeface="Arimo"/>
              </a:rPr>
              <a:t> Used by teams needing to securely connect custom AI solutions to existing enterprise applications like Salesforce, Slack, or Outlook.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251" y="2683519"/>
            <a:ext cx="32194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666750" y="1857375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" y="2897237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6750" y="3937099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6750" y="468749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" y="572735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2B8A7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